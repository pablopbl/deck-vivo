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1561f2e-3dcc-4164-a69d-3461445700b4}">
          <p14:sldIdLst>
            <p14:sldId id="256"/>
          </p14:sldIdLst>
        </p14:section>
        <p14:section name="Síntese" id="{54fa6dbb-a260-cf0a-0fe1-eb6d85398231}">
          <p14:sldIdLst>
            <p14:sldId id="257"/>
          </p14:sldIdLst>
        </p14:section>
        <p14:section name="Diagnóstico" id="{c5be8b6d-90b5-463c-fda1-9000118fa34e}">
          <p14:sldIdLst>
            <p14:sldId id="258"/>
            <p14:sldId id="259"/>
            <p14:sldId id="260"/>
          </p14:sldIdLst>
        </p14:section>
        <p14:section name="Resultados" id="{877d3faa-a891-ca3d-b0ed-66cdedb29e97}">
          <p14:sldIdLst>
            <p14:sldId id="261"/>
            <p14:sldId id="262"/>
          </p14:sldIdLst>
        </p14:section>
        <p14:section name="Atuação" id="{c3429ffa-d9a0-55c7-c179-43d60cd119aa}">
          <p14:sldIdLst>
            <p14:sldId id="263"/>
            <p14:sldId id="264"/>
          </p14:sldIdLst>
        </p14:section>
        <p14:section name="Conclusão" id="{c9396e30-a18b-a0f3-944c-b206b27eeb75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antiga</c:v>
                </c:pt>
              </c:strCache>
            </c:strRef>
          </c:tx>
          <c:spPr>
            <a:solidFill>
              <a:srgbClr val="C9A7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900</c:v>
                </c:pt>
                <c:pt idx="1">
                  <c:v>820</c:v>
                </c:pt>
                <c:pt idx="2">
                  <c:v>700</c:v>
                </c:pt>
                <c:pt idx="3">
                  <c:v>610</c:v>
                </c:pt>
                <c:pt idx="4">
                  <c:v>520</c:v>
                </c:pt>
                <c:pt idx="5">
                  <c:v>430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nova</c:v>
                </c:pt>
              </c:strCache>
            </c:strRef>
          </c:tx>
          <c:spPr>
            <a:solidFill>
              <a:srgbClr val="6600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210</c:v>
                </c:pt>
                <c:pt idx="2">
                  <c:v>330</c:v>
                </c:pt>
                <c:pt idx="3">
                  <c:v>420</c:v>
                </c:pt>
                <c:pt idx="4">
                  <c:v>540</c:v>
                </c:pt>
                <c:pt idx="5">
                  <c:v>650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0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Grupo A</c:v>
                </c:pt>
              </c:strCache>
            </c:strRef>
          </c:tx>
          <c:spPr>
            <a:solidFill>
              <a:srgbClr val="C9A7E0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1º tri</c:v>
                  </c:pt>
                  <c:pt idx="1">
                    <c:v>2º tri</c:v>
                  </c:pt>
                  <c:pt idx="2">
                    <c:v>3º tri</c:v>
                  </c:pt>
                  <c:pt idx="3">
                    <c:v>Acumulado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0.22</c:v>
                </c:pt>
                <c:pt idx="1">
                  <c:v>0.3</c:v>
                </c:pt>
                <c:pt idx="2">
                  <c:v>0.26</c:v>
                </c:pt>
                <c:pt idx="3">
                  <c:v>0.27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Grupo B</c:v>
                </c:pt>
              </c:strCache>
            </c:strRef>
          </c:tx>
          <c:spPr>
            <a:solidFill>
              <a:srgbClr val="660099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1º tri</c:v>
                  </c:pt>
                  <c:pt idx="1">
                    <c:v>2º tri</c:v>
                  </c:pt>
                  <c:pt idx="2">
                    <c:v>3º tri</c:v>
                  </c:pt>
                  <c:pt idx="3">
                    <c:v>Acumulado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0.58</c:v>
                </c:pt>
                <c:pt idx="1">
                  <c:v>0.72</c:v>
                </c:pt>
                <c:pt idx="2">
                  <c:v>0.65</c:v>
                </c:pt>
                <c:pt idx="3">
                  <c:v>0.66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9525" cap="flat">
              <a:solidFill>
                <a:srgbClr val="E6E0EB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Ocorrências</c:v>
                </c:pt>
              </c:strCache>
            </c:strRef>
          </c:tx>
          <c:spPr>
            <a:solidFill>
              <a:srgbClr val="6600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Categoria um</c:v>
                  </c:pt>
                  <c:pt idx="1">
                    <c:v>Categoria dois</c:v>
                  </c:pt>
                  <c:pt idx="2">
                    <c:v>Categoria três</c:v>
                  </c:pt>
                  <c:pt idx="3">
                    <c:v>Categoria quatro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13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Capa: fundo roxo, logo Vivo branco no topo, vivinho como marca d'água.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VO_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blomartins/Projetos Claude/deck-vivo/assets/logo-vivo-pur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693420" cy="237744"/>
          </a:xfrm>
          <a:prstGeom prst="rect">
            <a:avLst/>
          </a:prstGeom>
        </p:spPr>
      </p:pic>
      <p:pic>
        <p:nvPicPr>
          <p:cNvPr id="3" name="Image 1" descr="/Users/pablomartins/Projetos Claude/deck-vivo/assets/logo-parcei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6245352"/>
            <a:ext cx="365760" cy="3657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VO_DESTAQU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blomartins/Projetos Claude/deck-vivo/assets/vivinho-white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001000" y="502920"/>
            <a:ext cx="4303059" cy="5852160"/>
          </a:xfrm>
          <a:prstGeom prst="rect">
            <a:avLst/>
          </a:prstGeom>
        </p:spPr>
      </p:pic>
      <p:pic>
        <p:nvPicPr>
          <p:cNvPr id="3" name="Image 1" descr="/Users/pablomartins/Projetos Claude/deck-vivo/assets/logo-viv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120140" cy="38404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091672" y="6053328"/>
            <a:ext cx="548640" cy="54864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5" name="Image 2" descr="/Users/pablomartins/Projetos Claude/deck-vivo/assets/logo-parceir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4824" y="6126480"/>
            <a:ext cx="402336" cy="40233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1"/>
          <p:cNvSpPr txBox="1"/>
          <p:nvPr/>
        </p:nvSpPr>
        <p:spPr>
          <a:xfrm>
            <a:off x="54864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Vivo · Nome do projeto</a:t>
            </a:r>
            <a:endParaRPr lang="en-US" sz="1600" dirty="0"/>
          </a:p>
        </p:txBody>
      </p:sp>
      <p:sp>
        <p:nvSpPr>
          <p:cNvPr id="3" name="texto-2"/>
          <p:cNvSpPr txBox="1"/>
          <p:nvPr/>
        </p:nvSpPr>
        <p:spPr>
          <a:xfrm>
            <a:off x="548640" y="242316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Título da apresentação</a:t>
            </a:r>
            <a:endParaRPr lang="en-US" sz="5200" dirty="0"/>
          </a:p>
        </p:txBody>
      </p:sp>
      <p:sp>
        <p:nvSpPr>
          <p:cNvPr id="4" name="texto-3"/>
          <p:cNvSpPr txBox="1"/>
          <p:nvPr/>
        </p:nvSpPr>
        <p:spPr>
          <a:xfrm>
            <a:off x="548640" y="3474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Subtítulo com a promessa do deck</a:t>
            </a:r>
            <a:endParaRPr lang="en-US" sz="2600" dirty="0"/>
          </a:p>
        </p:txBody>
      </p:sp>
      <p:sp>
        <p:nvSpPr>
          <p:cNvPr id="5" name="texto-4"/>
          <p:cNvSpPr txBox="1"/>
          <p:nvPr/>
        </p:nvSpPr>
        <p:spPr>
          <a:xfrm>
            <a:off x="548640" y="4983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Período · Nome do autor ou da empresa</a:t>
            </a:r>
            <a:endParaRPr lang="en-US" sz="1400" dirty="0"/>
          </a:p>
        </p:txBody>
      </p:sp>
      <p:sp>
        <p:nvSpPr>
          <p:cNvPr id="6" name="pill-5"/>
          <p:cNvSpPr/>
          <p:nvPr/>
        </p:nvSpPr>
        <p:spPr>
          <a:xfrm>
            <a:off x="548640" y="5440680"/>
            <a:ext cx="1737360" cy="384048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/>
        </p:spPr>
      </p:sp>
      <p:sp>
        <p:nvSpPr>
          <p:cNvPr id="7" name="texto-6"/>
          <p:cNvSpPr txBox="1"/>
          <p:nvPr/>
        </p:nvSpPr>
        <p:spPr>
          <a:xfrm>
            <a:off x="548640" y="54406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Mês / Ano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01 · 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O título do slide é a mensagem, numa frase completa</a:t>
            </a:r>
            <a:endParaRPr lang="en-US" sz="2800" dirty="0"/>
          </a:p>
        </p:txBody>
      </p:sp>
      <p:sp>
        <p:nvSpPr>
          <p:cNvPr id="4" name="card-7"/>
          <p:cNvSpPr/>
          <p:nvPr/>
        </p:nvSpPr>
        <p:spPr>
          <a:xfrm>
            <a:off x="548640" y="2011680"/>
            <a:ext cx="3515258" cy="3931920"/>
          </a:xfrm>
          <a:prstGeom prst="roundRect">
            <a:avLst>
              <a:gd name="adj" fmla="val 4162"/>
            </a:avLst>
          </a:prstGeom>
          <a:solidFill>
            <a:schemeClr val="accent1"/>
          </a:solidFill>
          <a:ln/>
        </p:spPr>
      </p:sp>
      <p:sp>
        <p:nvSpPr>
          <p:cNvPr id="5" name="icone-fundo-8"/>
          <p:cNvSpPr/>
          <p:nvPr/>
        </p:nvSpPr>
        <p:spPr>
          <a:xfrm>
            <a:off x="914400" y="2331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e-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491740"/>
            <a:ext cx="320040" cy="320040"/>
          </a:xfrm>
          <a:prstGeom prst="rect">
            <a:avLst/>
          </a:prstGeom>
        </p:spPr>
      </p:pic>
      <p:sp>
        <p:nvSpPr>
          <p:cNvPr id="7" name="texto-10"/>
          <p:cNvSpPr txBox="1"/>
          <p:nvPr/>
        </p:nvSpPr>
        <p:spPr>
          <a:xfrm>
            <a:off x="914400" y="320040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64%</a:t>
            </a:r>
            <a:endParaRPr lang="en-US" sz="5600" dirty="0"/>
          </a:p>
        </p:txBody>
      </p:sp>
      <p:sp>
        <p:nvSpPr>
          <p:cNvPr id="8" name="texto-11"/>
          <p:cNvSpPr txBox="1"/>
          <p:nvPr/>
        </p:nvSpPr>
        <p:spPr>
          <a:xfrm>
            <a:off x="914400" y="416052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indicador principal</a:t>
            </a:r>
            <a:endParaRPr lang="en-US" sz="1800" dirty="0"/>
          </a:p>
        </p:txBody>
      </p:sp>
      <p:sp>
        <p:nvSpPr>
          <p:cNvPr id="9" name="texto-12"/>
          <p:cNvSpPr txBox="1"/>
          <p:nvPr/>
        </p:nvSpPr>
        <p:spPr>
          <a:xfrm>
            <a:off x="914400" y="493776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contexto do número: base de comparação e período</a:t>
            </a:r>
            <a:endParaRPr lang="en-US" sz="1400" dirty="0"/>
          </a:p>
        </p:txBody>
      </p:sp>
      <p:sp>
        <p:nvSpPr>
          <p:cNvPr id="10" name="card-13"/>
          <p:cNvSpPr/>
          <p:nvPr/>
        </p:nvSpPr>
        <p:spPr>
          <a:xfrm>
            <a:off x="4338218" y="2011680"/>
            <a:ext cx="3515258" cy="3931920"/>
          </a:xfrm>
          <a:prstGeom prst="roundRect">
            <a:avLst>
              <a:gd name="adj" fmla="val 4162"/>
            </a:avLst>
          </a:prstGeom>
          <a:solidFill>
            <a:schemeClr val="bg2"/>
          </a:solidFill>
          <a:ln/>
        </p:spPr>
      </p:sp>
      <p:sp>
        <p:nvSpPr>
          <p:cNvPr id="11" name="icone-fundo-14"/>
          <p:cNvSpPr/>
          <p:nvPr/>
        </p:nvSpPr>
        <p:spPr>
          <a:xfrm>
            <a:off x="4703978" y="2331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e-1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3998" y="2491740"/>
            <a:ext cx="320040" cy="320040"/>
          </a:xfrm>
          <a:prstGeom prst="rect">
            <a:avLst/>
          </a:prstGeom>
        </p:spPr>
      </p:pic>
      <p:sp>
        <p:nvSpPr>
          <p:cNvPr id="13" name="texto-16"/>
          <p:cNvSpPr txBox="1"/>
          <p:nvPr/>
        </p:nvSpPr>
        <p:spPr>
          <a:xfrm>
            <a:off x="4703978" y="320040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</a:rPr>
              <a:t>−38%</a:t>
            </a:r>
            <a:endParaRPr lang="en-US" sz="5600" dirty="0"/>
          </a:p>
        </p:txBody>
      </p:sp>
      <p:sp>
        <p:nvSpPr>
          <p:cNvPr id="14" name="texto-17"/>
          <p:cNvSpPr txBox="1"/>
          <p:nvPr/>
        </p:nvSpPr>
        <p:spPr>
          <a:xfrm>
            <a:off x="4703978" y="416052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segundo indicador</a:t>
            </a:r>
            <a:endParaRPr lang="en-US" sz="1800" dirty="0"/>
          </a:p>
        </p:txBody>
      </p:sp>
      <p:sp>
        <p:nvSpPr>
          <p:cNvPr id="15" name="texto-18"/>
          <p:cNvSpPr txBox="1"/>
          <p:nvPr/>
        </p:nvSpPr>
        <p:spPr>
          <a:xfrm>
            <a:off x="4703978" y="493776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contexto do número</a:t>
            </a:r>
            <a:endParaRPr lang="en-US" sz="1400" dirty="0"/>
          </a:p>
        </p:txBody>
      </p:sp>
      <p:sp>
        <p:nvSpPr>
          <p:cNvPr id="16" name="card-19"/>
          <p:cNvSpPr/>
          <p:nvPr/>
        </p:nvSpPr>
        <p:spPr>
          <a:xfrm>
            <a:off x="8127797" y="2011680"/>
            <a:ext cx="3515258" cy="3931920"/>
          </a:xfrm>
          <a:prstGeom prst="roundRect">
            <a:avLst>
              <a:gd name="adj" fmla="val 4162"/>
            </a:avLst>
          </a:prstGeom>
          <a:solidFill>
            <a:schemeClr val="bg2"/>
          </a:solidFill>
          <a:ln/>
        </p:spPr>
      </p:sp>
      <p:sp>
        <p:nvSpPr>
          <p:cNvPr id="17" name="icone-fundo-20"/>
          <p:cNvSpPr/>
          <p:nvPr/>
        </p:nvSpPr>
        <p:spPr>
          <a:xfrm>
            <a:off x="8493557" y="2331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e-2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577" y="2491740"/>
            <a:ext cx="320040" cy="320040"/>
          </a:xfrm>
          <a:prstGeom prst="rect">
            <a:avLst/>
          </a:prstGeom>
        </p:spPr>
      </p:pic>
      <p:sp>
        <p:nvSpPr>
          <p:cNvPr id="19" name="texto-22"/>
          <p:cNvSpPr txBox="1"/>
          <p:nvPr/>
        </p:nvSpPr>
        <p:spPr>
          <a:xfrm>
            <a:off x="8493557" y="320040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</a:rPr>
              <a:t>2,4 mil</a:t>
            </a:r>
            <a:endParaRPr lang="en-US" sz="5600" dirty="0"/>
          </a:p>
        </p:txBody>
      </p:sp>
      <p:sp>
        <p:nvSpPr>
          <p:cNvPr id="20" name="texto-23"/>
          <p:cNvSpPr txBox="1"/>
          <p:nvPr/>
        </p:nvSpPr>
        <p:spPr>
          <a:xfrm>
            <a:off x="8493557" y="416052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terceiro indicador</a:t>
            </a:r>
            <a:endParaRPr lang="en-US" sz="1800" dirty="0"/>
          </a:p>
        </p:txBody>
      </p:sp>
      <p:sp>
        <p:nvSpPr>
          <p:cNvPr id="21" name="texto-24"/>
          <p:cNvSpPr txBox="1"/>
          <p:nvPr/>
        </p:nvSpPr>
        <p:spPr>
          <a:xfrm>
            <a:off x="8493557" y="493776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contexto do número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02 · COMPARAÇÃO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Comparação entre dois grupos com selo de destaque</a:t>
            </a:r>
            <a:endParaRPr lang="en-US" sz="2800" dirty="0"/>
          </a:p>
        </p:txBody>
      </p:sp>
      <p:sp>
        <p:nvSpPr>
          <p:cNvPr id="4" name="card-25"/>
          <p:cNvSpPr/>
          <p:nvPr/>
        </p:nvSpPr>
        <p:spPr>
          <a:xfrm>
            <a:off x="548640" y="2011680"/>
            <a:ext cx="11094415" cy="2331720"/>
          </a:xfrm>
          <a:prstGeom prst="roundRect">
            <a:avLst>
              <a:gd name="adj" fmla="val 6275"/>
            </a:avLst>
          </a:prstGeom>
          <a:solidFill>
            <a:schemeClr val="bg2"/>
          </a:solidFill>
          <a:ln/>
        </p:spPr>
      </p:sp>
      <p:sp>
        <p:nvSpPr>
          <p:cNvPr id="5" name="texto-26"/>
          <p:cNvSpPr txBox="1"/>
          <p:nvPr/>
        </p:nvSpPr>
        <p:spPr>
          <a:xfrm>
            <a:off x="914400" y="23774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Grupo A</a:t>
            </a:r>
            <a:endParaRPr lang="en-US" sz="1600" dirty="0"/>
          </a:p>
        </p:txBody>
      </p:sp>
      <p:sp>
        <p:nvSpPr>
          <p:cNvPr id="6" name="barra-27"/>
          <p:cNvSpPr/>
          <p:nvPr/>
        </p:nvSpPr>
        <p:spPr>
          <a:xfrm>
            <a:off x="2926080" y="2423160"/>
            <a:ext cx="2359742" cy="594360"/>
          </a:xfrm>
          <a:prstGeom prst="roundRect">
            <a:avLst>
              <a:gd name="adj" fmla="val 18462"/>
            </a:avLst>
          </a:prstGeom>
          <a:solidFill>
            <a:schemeClr val="accent3"/>
          </a:solidFill>
          <a:ln/>
        </p:spPr>
      </p:sp>
      <p:sp>
        <p:nvSpPr>
          <p:cNvPr id="7" name="texto-28"/>
          <p:cNvSpPr txBox="1"/>
          <p:nvPr/>
        </p:nvSpPr>
        <p:spPr>
          <a:xfrm>
            <a:off x="5468702" y="23774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25%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   100 de 400</a:t>
            </a:r>
            <a:endParaRPr lang="en-US" sz="3200" dirty="0"/>
          </a:p>
        </p:txBody>
      </p:sp>
      <p:sp>
        <p:nvSpPr>
          <p:cNvPr id="8" name="texto-29"/>
          <p:cNvSpPr txBox="1"/>
          <p:nvPr/>
        </p:nvSpPr>
        <p:spPr>
          <a:xfrm>
            <a:off x="914400" y="3291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Grupo B</a:t>
            </a:r>
            <a:endParaRPr lang="en-US" sz="1600" dirty="0"/>
          </a:p>
        </p:txBody>
      </p:sp>
      <p:sp>
        <p:nvSpPr>
          <p:cNvPr id="9" name="barra-30"/>
          <p:cNvSpPr/>
          <p:nvPr/>
        </p:nvSpPr>
        <p:spPr>
          <a:xfrm>
            <a:off x="2926080" y="3337560"/>
            <a:ext cx="5852160" cy="594360"/>
          </a:xfrm>
          <a:prstGeom prst="roundRect">
            <a:avLst>
              <a:gd name="adj" fmla="val 18462"/>
            </a:avLst>
          </a:prstGeom>
          <a:solidFill>
            <a:schemeClr val="accent1"/>
          </a:solidFill>
          <a:ln/>
        </p:spPr>
      </p:sp>
      <p:sp>
        <p:nvSpPr>
          <p:cNvPr id="10" name="texto-31"/>
          <p:cNvSpPr txBox="1"/>
          <p:nvPr/>
        </p:nvSpPr>
        <p:spPr>
          <a:xfrm>
            <a:off x="8961120" y="32918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62%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   124 de 200</a:t>
            </a:r>
            <a:endParaRPr lang="en-US" sz="3200" dirty="0"/>
          </a:p>
        </p:txBody>
      </p:sp>
      <p:sp>
        <p:nvSpPr>
          <p:cNvPr id="11" name="selo-32"/>
          <p:cNvSpPr/>
          <p:nvPr/>
        </p:nvSpPr>
        <p:spPr>
          <a:xfrm>
            <a:off x="10134295" y="2423160"/>
            <a:ext cx="1188720" cy="11887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o-33"/>
          <p:cNvSpPr txBox="1"/>
          <p:nvPr/>
        </p:nvSpPr>
        <p:spPr>
          <a:xfrm>
            <a:off x="10134295" y="24231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2,5×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maior</a:t>
            </a:r>
            <a:endParaRPr lang="en-US" sz="2600" dirty="0"/>
          </a:p>
        </p:txBody>
      </p:sp>
      <p:sp>
        <p:nvSpPr>
          <p:cNvPr id="13" name="texto-34"/>
          <p:cNvSpPr txBox="1"/>
          <p:nvPr/>
        </p:nvSpPr>
        <p:spPr>
          <a:xfrm>
            <a:off x="914400" y="393192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Definição do indicador em uma linha</a:t>
            </a:r>
            <a:endParaRPr lang="en-US" sz="1100" dirty="0"/>
          </a:p>
        </p:txBody>
      </p:sp>
      <p:sp>
        <p:nvSpPr>
          <p:cNvPr id="14" name="card-35"/>
          <p:cNvSpPr/>
          <p:nvPr/>
        </p:nvSpPr>
        <p:spPr>
          <a:xfrm>
            <a:off x="548640" y="4617720"/>
            <a:ext cx="5410048" cy="1417320"/>
          </a:xfrm>
          <a:prstGeom prst="roundRect">
            <a:avLst>
              <a:gd name="adj" fmla="val 10323"/>
            </a:avLst>
          </a:prstGeom>
          <a:solidFill>
            <a:schemeClr val="bg2"/>
          </a:solidFill>
          <a:ln/>
        </p:spPr>
      </p:sp>
      <p:sp>
        <p:nvSpPr>
          <p:cNvPr id="15" name="icone-fundo-36"/>
          <p:cNvSpPr/>
          <p:nvPr/>
        </p:nvSpPr>
        <p:spPr>
          <a:xfrm>
            <a:off x="914400" y="4892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e-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5029200"/>
            <a:ext cx="274320" cy="274320"/>
          </a:xfrm>
          <a:prstGeom prst="rect">
            <a:avLst/>
          </a:prstGeom>
        </p:spPr>
      </p:pic>
      <p:sp>
        <p:nvSpPr>
          <p:cNvPr id="17" name="texto-38"/>
          <p:cNvSpPr txBox="1"/>
          <p:nvPr/>
        </p:nvSpPr>
        <p:spPr>
          <a:xfrm>
            <a:off x="1783080" y="4892040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Critério alternativo</a:t>
            </a:r>
            <a:endParaRPr lang="en-US" sz="1600" dirty="0"/>
          </a:p>
        </p:txBody>
      </p:sp>
      <p:sp>
        <p:nvSpPr>
          <p:cNvPr id="18" name="texto-39"/>
          <p:cNvSpPr txBox="1"/>
          <p:nvPr/>
        </p:nvSpPr>
        <p:spPr>
          <a:xfrm>
            <a:off x="1783080" y="5276088"/>
            <a:ext cx="3809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Quando a métrica muda de definição, o resultado se mantém.</a:t>
            </a:r>
            <a:endParaRPr lang="en-US" sz="1400" dirty="0"/>
          </a:p>
        </p:txBody>
      </p:sp>
      <p:sp>
        <p:nvSpPr>
          <p:cNvPr id="19" name="card-40"/>
          <p:cNvSpPr/>
          <p:nvPr/>
        </p:nvSpPr>
        <p:spPr>
          <a:xfrm>
            <a:off x="6233008" y="4617720"/>
            <a:ext cx="5410048" cy="1417320"/>
          </a:xfrm>
          <a:prstGeom prst="roundRect">
            <a:avLst>
              <a:gd name="adj" fmla="val 10323"/>
            </a:avLst>
          </a:prstGeom>
          <a:solidFill>
            <a:schemeClr val="bg2"/>
          </a:solidFill>
          <a:ln/>
        </p:spPr>
      </p:sp>
      <p:sp>
        <p:nvSpPr>
          <p:cNvPr id="20" name="icone-fundo-41"/>
          <p:cNvSpPr/>
          <p:nvPr/>
        </p:nvSpPr>
        <p:spPr>
          <a:xfrm>
            <a:off x="6598768" y="4892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e-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28" y="5029200"/>
            <a:ext cx="274320" cy="274320"/>
          </a:xfrm>
          <a:prstGeom prst="rect">
            <a:avLst/>
          </a:prstGeom>
        </p:spPr>
      </p:pic>
      <p:sp>
        <p:nvSpPr>
          <p:cNvPr id="22" name="texto-43"/>
          <p:cNvSpPr txBox="1"/>
          <p:nvPr/>
        </p:nvSpPr>
        <p:spPr>
          <a:xfrm>
            <a:off x="7467448" y="4892040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Em todos os recortes</a:t>
            </a:r>
            <a:endParaRPr lang="en-US" sz="1600" dirty="0"/>
          </a:p>
        </p:txBody>
      </p:sp>
      <p:sp>
        <p:nvSpPr>
          <p:cNvPr id="23" name="texto-44"/>
          <p:cNvSpPr txBox="1"/>
          <p:nvPr/>
        </p:nvSpPr>
        <p:spPr>
          <a:xfrm>
            <a:off x="7467448" y="5276088"/>
            <a:ext cx="3809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vantagem aparece por período, tipo e fase.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02 · EVOLUÇÃO MENSAL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Gráfico de colunas empilhadas com legenda própria</a:t>
            </a:r>
            <a:endParaRPr lang="en-US" sz="2800" dirty="0"/>
          </a:p>
        </p:txBody>
      </p:sp>
      <p:sp>
        <p:nvSpPr>
          <p:cNvPr id="4" name="legenda-45"/>
          <p:cNvSpPr/>
          <p:nvPr/>
        </p:nvSpPr>
        <p:spPr>
          <a:xfrm>
            <a:off x="548640" y="1865376"/>
            <a:ext cx="182880" cy="18288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</p:sp>
      <p:sp>
        <p:nvSpPr>
          <p:cNvPr id="5" name="texto-46"/>
          <p:cNvSpPr txBox="1"/>
          <p:nvPr/>
        </p:nvSpPr>
        <p:spPr>
          <a:xfrm>
            <a:off x="82296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Base antiga</a:t>
            </a:r>
            <a:endParaRPr lang="en-US" sz="1200" dirty="0"/>
          </a:p>
        </p:txBody>
      </p:sp>
      <p:sp>
        <p:nvSpPr>
          <p:cNvPr id="6" name="legenda-47"/>
          <p:cNvSpPr/>
          <p:nvPr/>
        </p:nvSpPr>
        <p:spPr>
          <a:xfrm>
            <a:off x="2560320" y="1865376"/>
            <a:ext cx="182880" cy="18288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7" name="texto-48"/>
          <p:cNvSpPr txBox="1"/>
          <p:nvPr/>
        </p:nvSpPr>
        <p:spPr>
          <a:xfrm>
            <a:off x="283464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Base nova</a:t>
            </a:r>
            <a:endParaRPr lang="en-US" sz="1200" dirty="0"/>
          </a:p>
        </p:txBody>
      </p:sp>
      <p:graphicFrame>
        <p:nvGraphicFramePr>
          <p:cNvPr id="8" name="grafico-49" descr=""/>
          <p:cNvGraphicFramePr/>
          <p:nvPr/>
        </p:nvGraphicFramePr>
        <p:xfrm>
          <a:off x="548640" y="2194560"/>
          <a:ext cx="1109441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02 · POR PERÍODO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Colunas agrupadas com rótulos em porcentagem</a:t>
            </a:r>
            <a:endParaRPr lang="en-US" sz="2800" dirty="0"/>
          </a:p>
        </p:txBody>
      </p:sp>
      <p:sp>
        <p:nvSpPr>
          <p:cNvPr id="4" name="legenda-50"/>
          <p:cNvSpPr/>
          <p:nvPr/>
        </p:nvSpPr>
        <p:spPr>
          <a:xfrm>
            <a:off x="548640" y="1865376"/>
            <a:ext cx="182880" cy="18288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</p:sp>
      <p:sp>
        <p:nvSpPr>
          <p:cNvPr id="5" name="texto-51"/>
          <p:cNvSpPr txBox="1"/>
          <p:nvPr/>
        </p:nvSpPr>
        <p:spPr>
          <a:xfrm>
            <a:off x="82296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Grupo A</a:t>
            </a:r>
            <a:endParaRPr lang="en-US" sz="1200" dirty="0"/>
          </a:p>
        </p:txBody>
      </p:sp>
      <p:sp>
        <p:nvSpPr>
          <p:cNvPr id="6" name="legenda-52"/>
          <p:cNvSpPr/>
          <p:nvPr/>
        </p:nvSpPr>
        <p:spPr>
          <a:xfrm>
            <a:off x="2560320" y="1865376"/>
            <a:ext cx="182880" cy="18288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7" name="texto-53"/>
          <p:cNvSpPr txBox="1"/>
          <p:nvPr/>
        </p:nvSpPr>
        <p:spPr>
          <a:xfrm>
            <a:off x="283464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Grupo B</a:t>
            </a:r>
            <a:endParaRPr lang="en-US" sz="1200" dirty="0"/>
          </a:p>
        </p:txBody>
      </p:sp>
      <p:graphicFrame>
        <p:nvGraphicFramePr>
          <p:cNvPr id="8" name="grafico-54" descr=""/>
          <p:cNvGraphicFramePr/>
          <p:nvPr/>
        </p:nvGraphicFramePr>
        <p:xfrm>
          <a:off x="548640" y="2194560"/>
          <a:ext cx="1109441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o-55"/>
          <p:cNvSpPr txBox="1"/>
          <p:nvPr/>
        </p:nvSpPr>
        <p:spPr>
          <a:xfrm>
            <a:off x="548640" y="5715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Nota de rodapé do gráfico: fonte, recorte ou ressalva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03 · TABELA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Painel de destaque ao lado de uma tabela</a:t>
            </a:r>
            <a:endParaRPr lang="en-US" sz="2800" dirty="0"/>
          </a:p>
        </p:txBody>
      </p:sp>
      <p:sp>
        <p:nvSpPr>
          <p:cNvPr id="4" name="card-56"/>
          <p:cNvSpPr/>
          <p:nvPr/>
        </p:nvSpPr>
        <p:spPr>
          <a:xfrm>
            <a:off x="548640" y="2011680"/>
            <a:ext cx="3200400" cy="3401568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/>
        </p:spPr>
      </p:sp>
      <p:sp>
        <p:nvSpPr>
          <p:cNvPr id="5" name="texto-57"/>
          <p:cNvSpPr txBox="1"/>
          <p:nvPr/>
        </p:nvSpPr>
        <p:spPr>
          <a:xfrm>
            <a:off x="9144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−60%</a:t>
            </a:r>
            <a:endParaRPr lang="en-US" sz="6400" dirty="0"/>
          </a:p>
        </p:txBody>
      </p:sp>
      <p:sp>
        <p:nvSpPr>
          <p:cNvPr id="6" name="texto-58"/>
          <p:cNvSpPr txBox="1"/>
          <p:nvPr/>
        </p:nvSpPr>
        <p:spPr>
          <a:xfrm>
            <a:off x="914400" y="3429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indicador que a tabela explica</a:t>
            </a:r>
            <a:endParaRPr lang="en-US" sz="1600" dirty="0"/>
          </a:p>
        </p:txBody>
      </p:sp>
      <p:sp>
        <p:nvSpPr>
          <p:cNvPr id="7" name="texto-59"/>
          <p:cNvSpPr txBox="1"/>
          <p:nvPr/>
        </p:nvSpPr>
        <p:spPr>
          <a:xfrm>
            <a:off x="914400" y="4160520"/>
            <a:ext cx="2468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R$ 1.200 contra R$ 3.000 no grupo de comparação</a:t>
            </a:r>
            <a:endParaRPr lang="en-US" sz="1400" dirty="0"/>
          </a:p>
        </p:txBody>
      </p:sp>
      <p:graphicFrame>
        <p:nvGraphicFramePr>
          <p:cNvPr id="7" name="tabela-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23360" y="2011680"/>
          <a:ext cx="7619695" cy="914400"/>
        </p:xfrm>
        <a:graphic>
          <a:graphicData uri="http://schemas.openxmlformats.org/drawingml/2006/table">
            <a:tbl>
              <a:tblPr/>
              <a:tblGrid>
                <a:gridCol w="3502152"/>
                <a:gridCol w="1280160"/>
                <a:gridCol w="128016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Grupo 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Grupo B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Diferença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Primeiro indicador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R$ 4.000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R$ 2.400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</a:rPr>
                        <a:t>−40%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Segundo indicador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30%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</a:rPr>
                        <a:t>−40 p.p.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Terceiro indicador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R$ 3.000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R$ 1.200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</a:rPr>
                        <a:t>−60%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9" name="card-61"/>
          <p:cNvSpPr/>
          <p:nvPr/>
        </p:nvSpPr>
        <p:spPr>
          <a:xfrm>
            <a:off x="548640" y="5532120"/>
            <a:ext cx="11094415" cy="502920"/>
          </a:xfrm>
          <a:prstGeom prst="roundRect">
            <a:avLst>
              <a:gd name="adj" fmla="val 29091"/>
            </a:avLst>
          </a:prstGeom>
          <a:solidFill>
            <a:schemeClr val="bg2"/>
          </a:solidFill>
          <a:ln/>
        </p:spPr>
      </p:sp>
      <p:sp>
        <p:nvSpPr>
          <p:cNvPr id="10" name="icone-fundo-62"/>
          <p:cNvSpPr/>
          <p:nvPr/>
        </p:nvSpPr>
        <p:spPr>
          <a:xfrm>
            <a:off x="777240" y="55549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e-6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5669280"/>
            <a:ext cx="228600" cy="228600"/>
          </a:xfrm>
          <a:prstGeom prst="rect">
            <a:avLst/>
          </a:prstGeom>
        </p:spPr>
      </p:pic>
      <p:sp>
        <p:nvSpPr>
          <p:cNvPr id="12" name="texto-64"/>
          <p:cNvSpPr txBox="1"/>
          <p:nvPr/>
        </p:nvSpPr>
        <p:spPr>
          <a:xfrm>
            <a:off x="1417320" y="5532120"/>
            <a:ext cx="9997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Destaque: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frase de contexto que complementa a tabela, em uma linha.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03 · ALERTA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Gráfico de barras horizontais com painel e alerta</a:t>
            </a:r>
            <a:endParaRPr lang="en-US" sz="2800" dirty="0"/>
          </a:p>
        </p:txBody>
      </p:sp>
      <p:sp>
        <p:nvSpPr>
          <p:cNvPr id="4" name="card-65"/>
          <p:cNvSpPr/>
          <p:nvPr/>
        </p:nvSpPr>
        <p:spPr>
          <a:xfrm>
            <a:off x="548640" y="2011680"/>
            <a:ext cx="3200400" cy="292608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/>
        </p:spPr>
      </p:sp>
      <p:sp>
        <p:nvSpPr>
          <p:cNvPr id="5" name="icone-fundo-66"/>
          <p:cNvSpPr/>
          <p:nvPr/>
        </p:nvSpPr>
        <p:spPr>
          <a:xfrm>
            <a:off x="914400" y="23774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e-6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537460"/>
            <a:ext cx="320040" cy="320040"/>
          </a:xfrm>
          <a:prstGeom prst="rect">
            <a:avLst/>
          </a:prstGeom>
        </p:spPr>
      </p:pic>
      <p:sp>
        <p:nvSpPr>
          <p:cNvPr id="7" name="texto-68"/>
          <p:cNvSpPr txBox="1"/>
          <p:nvPr/>
        </p:nvSpPr>
        <p:spPr>
          <a:xfrm>
            <a:off x="914400" y="32461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38</a:t>
            </a:r>
            <a:endParaRPr lang="en-US" sz="6400" dirty="0"/>
          </a:p>
        </p:txBody>
      </p:sp>
      <p:sp>
        <p:nvSpPr>
          <p:cNvPr id="8" name="texto-69"/>
          <p:cNvSpPr txBox="1"/>
          <p:nvPr/>
        </p:nvSpPr>
        <p:spPr>
          <a:xfrm>
            <a:off x="914400" y="42976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ocorrências no período</a:t>
            </a:r>
            <a:endParaRPr lang="en-US" sz="1600" dirty="0"/>
          </a:p>
        </p:txBody>
      </p:sp>
      <p:sp>
        <p:nvSpPr>
          <p:cNvPr id="9" name="card-70"/>
          <p:cNvSpPr/>
          <p:nvPr/>
        </p:nvSpPr>
        <p:spPr>
          <a:xfrm>
            <a:off x="4023360" y="2011680"/>
            <a:ext cx="7619695" cy="29260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graphicFrame>
        <p:nvGraphicFramePr>
          <p:cNvPr id="10" name="grafico-71" descr=""/>
          <p:cNvGraphicFramePr/>
          <p:nvPr/>
        </p:nvGraphicFramePr>
        <p:xfrm>
          <a:off x="4206240" y="2148840"/>
          <a:ext cx="725393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card-72"/>
          <p:cNvSpPr/>
          <p:nvPr/>
        </p:nvSpPr>
        <p:spPr>
          <a:xfrm>
            <a:off x="548640" y="5257800"/>
            <a:ext cx="11094415" cy="731520"/>
          </a:xfrm>
          <a:prstGeom prst="roundRect">
            <a:avLst>
              <a:gd name="adj" fmla="val 20000"/>
            </a:avLst>
          </a:prstGeom>
          <a:solidFill>
            <a:srgbClr val="FCE9EF"/>
          </a:solidFill>
          <a:ln/>
        </p:spPr>
      </p:sp>
      <p:sp>
        <p:nvSpPr>
          <p:cNvPr id="12" name="icone-fundo-73"/>
          <p:cNvSpPr/>
          <p:nvPr/>
        </p:nvSpPr>
        <p:spPr>
          <a:xfrm>
            <a:off x="777240" y="539496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icone-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509260"/>
            <a:ext cx="228600" cy="228600"/>
          </a:xfrm>
          <a:prstGeom prst="rect">
            <a:avLst/>
          </a:prstGeom>
        </p:spPr>
      </p:pic>
      <p:sp>
        <p:nvSpPr>
          <p:cNvPr id="14" name="texto-75"/>
          <p:cNvSpPr txBox="1"/>
          <p:nvPr/>
        </p:nvSpPr>
        <p:spPr>
          <a:xfrm>
            <a:off x="1417320" y="525780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Frase de alerta: o que esse número significa para a decisão.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04 · FRENTES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Grade de cards com ícone</a:t>
            </a:r>
            <a:endParaRPr lang="en-US" sz="2800" dirty="0"/>
          </a:p>
        </p:txBody>
      </p:sp>
      <p:sp>
        <p:nvSpPr>
          <p:cNvPr id="4" name="card-76"/>
          <p:cNvSpPr/>
          <p:nvPr/>
        </p:nvSpPr>
        <p:spPr>
          <a:xfrm>
            <a:off x="548640" y="2011680"/>
            <a:ext cx="5410048" cy="1874520"/>
          </a:xfrm>
          <a:prstGeom prst="roundRect">
            <a:avLst>
              <a:gd name="adj" fmla="val 7805"/>
            </a:avLst>
          </a:prstGeom>
          <a:solidFill>
            <a:schemeClr val="bg2"/>
          </a:solidFill>
          <a:ln/>
        </p:spPr>
      </p:sp>
      <p:sp>
        <p:nvSpPr>
          <p:cNvPr id="5" name="icone-fundo-77"/>
          <p:cNvSpPr/>
          <p:nvPr/>
        </p:nvSpPr>
        <p:spPr>
          <a:xfrm>
            <a:off x="914400" y="2286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e-7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423160"/>
            <a:ext cx="274320" cy="274320"/>
          </a:xfrm>
          <a:prstGeom prst="rect">
            <a:avLst/>
          </a:prstGeom>
        </p:spPr>
      </p:pic>
      <p:sp>
        <p:nvSpPr>
          <p:cNvPr id="7" name="texto-79"/>
          <p:cNvSpPr txBox="1"/>
          <p:nvPr/>
        </p:nvSpPr>
        <p:spPr>
          <a:xfrm>
            <a:off x="1783080" y="2286000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Primeira frente</a:t>
            </a:r>
            <a:endParaRPr lang="en-US" sz="1600" dirty="0"/>
          </a:p>
        </p:txBody>
      </p:sp>
      <p:sp>
        <p:nvSpPr>
          <p:cNvPr id="8" name="texto-80"/>
          <p:cNvSpPr txBox="1"/>
          <p:nvPr/>
        </p:nvSpPr>
        <p:spPr>
          <a:xfrm>
            <a:off x="1783080" y="2670048"/>
            <a:ext cx="3809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Descrição curta do que é feito e por quem.</a:t>
            </a:r>
            <a:endParaRPr lang="en-US" sz="1400" dirty="0"/>
          </a:p>
        </p:txBody>
      </p:sp>
      <p:sp>
        <p:nvSpPr>
          <p:cNvPr id="9" name="card-81"/>
          <p:cNvSpPr/>
          <p:nvPr/>
        </p:nvSpPr>
        <p:spPr>
          <a:xfrm>
            <a:off x="6233008" y="2011680"/>
            <a:ext cx="5410048" cy="1874520"/>
          </a:xfrm>
          <a:prstGeom prst="roundRect">
            <a:avLst>
              <a:gd name="adj" fmla="val 7805"/>
            </a:avLst>
          </a:prstGeom>
          <a:solidFill>
            <a:schemeClr val="bg2"/>
          </a:solidFill>
          <a:ln/>
        </p:spPr>
      </p:sp>
      <p:sp>
        <p:nvSpPr>
          <p:cNvPr id="10" name="icone-fundo-82"/>
          <p:cNvSpPr/>
          <p:nvPr/>
        </p:nvSpPr>
        <p:spPr>
          <a:xfrm>
            <a:off x="6598768" y="2286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e-8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28" y="2423160"/>
            <a:ext cx="274320" cy="274320"/>
          </a:xfrm>
          <a:prstGeom prst="rect">
            <a:avLst/>
          </a:prstGeom>
        </p:spPr>
      </p:pic>
      <p:sp>
        <p:nvSpPr>
          <p:cNvPr id="12" name="texto-84"/>
          <p:cNvSpPr txBox="1"/>
          <p:nvPr/>
        </p:nvSpPr>
        <p:spPr>
          <a:xfrm>
            <a:off x="7467448" y="2286000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Segunda frente</a:t>
            </a:r>
            <a:endParaRPr lang="en-US" sz="1600" dirty="0"/>
          </a:p>
        </p:txBody>
      </p:sp>
      <p:sp>
        <p:nvSpPr>
          <p:cNvPr id="13" name="texto-85"/>
          <p:cNvSpPr txBox="1"/>
          <p:nvPr/>
        </p:nvSpPr>
        <p:spPr>
          <a:xfrm>
            <a:off x="7467448" y="2670048"/>
            <a:ext cx="3809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Descrição curta do que é feito e por quem.</a:t>
            </a:r>
            <a:endParaRPr lang="en-US" sz="1400" dirty="0"/>
          </a:p>
        </p:txBody>
      </p:sp>
      <p:sp>
        <p:nvSpPr>
          <p:cNvPr id="14" name="card-86"/>
          <p:cNvSpPr/>
          <p:nvPr/>
        </p:nvSpPr>
        <p:spPr>
          <a:xfrm>
            <a:off x="548640" y="4160520"/>
            <a:ext cx="5410048" cy="1874520"/>
          </a:xfrm>
          <a:prstGeom prst="roundRect">
            <a:avLst>
              <a:gd name="adj" fmla="val 7805"/>
            </a:avLst>
          </a:prstGeom>
          <a:solidFill>
            <a:schemeClr val="bg2"/>
          </a:solidFill>
          <a:ln/>
        </p:spPr>
      </p:sp>
      <p:sp>
        <p:nvSpPr>
          <p:cNvPr id="15" name="icone-fundo-87"/>
          <p:cNvSpPr/>
          <p:nvPr/>
        </p:nvSpPr>
        <p:spPr>
          <a:xfrm>
            <a:off x="91440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e-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572000"/>
            <a:ext cx="274320" cy="274320"/>
          </a:xfrm>
          <a:prstGeom prst="rect">
            <a:avLst/>
          </a:prstGeom>
        </p:spPr>
      </p:pic>
      <p:sp>
        <p:nvSpPr>
          <p:cNvPr id="17" name="texto-89"/>
          <p:cNvSpPr txBox="1"/>
          <p:nvPr/>
        </p:nvSpPr>
        <p:spPr>
          <a:xfrm>
            <a:off x="1783080" y="4434840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Terceira frente</a:t>
            </a:r>
            <a:endParaRPr lang="en-US" sz="1600" dirty="0"/>
          </a:p>
        </p:txBody>
      </p:sp>
      <p:sp>
        <p:nvSpPr>
          <p:cNvPr id="18" name="texto-90"/>
          <p:cNvSpPr txBox="1"/>
          <p:nvPr/>
        </p:nvSpPr>
        <p:spPr>
          <a:xfrm>
            <a:off x="1783080" y="4818888"/>
            <a:ext cx="3809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Descrição curta do que é feito e por quem.</a:t>
            </a:r>
            <a:endParaRPr lang="en-US" sz="1400" dirty="0"/>
          </a:p>
        </p:txBody>
      </p:sp>
      <p:sp>
        <p:nvSpPr>
          <p:cNvPr id="19" name="card-91"/>
          <p:cNvSpPr/>
          <p:nvPr/>
        </p:nvSpPr>
        <p:spPr>
          <a:xfrm>
            <a:off x="6233008" y="4160520"/>
            <a:ext cx="5410048" cy="1874520"/>
          </a:xfrm>
          <a:prstGeom prst="roundRect">
            <a:avLst>
              <a:gd name="adj" fmla="val 7805"/>
            </a:avLst>
          </a:prstGeom>
          <a:solidFill>
            <a:schemeClr val="bg2"/>
          </a:solidFill>
          <a:ln/>
        </p:spPr>
      </p:sp>
      <p:sp>
        <p:nvSpPr>
          <p:cNvPr id="20" name="icone-fundo-92"/>
          <p:cNvSpPr/>
          <p:nvPr/>
        </p:nvSpPr>
        <p:spPr>
          <a:xfrm>
            <a:off x="6598768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e-9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5928" y="4572000"/>
            <a:ext cx="274320" cy="274320"/>
          </a:xfrm>
          <a:prstGeom prst="rect">
            <a:avLst/>
          </a:prstGeom>
        </p:spPr>
      </p:pic>
      <p:sp>
        <p:nvSpPr>
          <p:cNvPr id="22" name="texto-94"/>
          <p:cNvSpPr txBox="1"/>
          <p:nvPr/>
        </p:nvSpPr>
        <p:spPr>
          <a:xfrm>
            <a:off x="7467448" y="4434840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Quarta frente</a:t>
            </a:r>
            <a:endParaRPr lang="en-US" sz="1600" dirty="0"/>
          </a:p>
        </p:txBody>
      </p:sp>
      <p:sp>
        <p:nvSpPr>
          <p:cNvPr id="23" name="texto-95"/>
          <p:cNvSpPr txBox="1"/>
          <p:nvPr/>
        </p:nvSpPr>
        <p:spPr>
          <a:xfrm>
            <a:off x="7467448" y="4818888"/>
            <a:ext cx="3809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Descrição curta do que é feito e por quem.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04 · DUAS COLUNAS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Duas colunas com listas, uma em destaque</a:t>
            </a:r>
            <a:endParaRPr lang="en-US" sz="2800" dirty="0"/>
          </a:p>
        </p:txBody>
      </p:sp>
      <p:sp>
        <p:nvSpPr>
          <p:cNvPr id="4" name="card-96"/>
          <p:cNvSpPr/>
          <p:nvPr/>
        </p:nvSpPr>
        <p:spPr>
          <a:xfrm>
            <a:off x="548640" y="2011680"/>
            <a:ext cx="5410048" cy="402336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5" name="icone-fundo-97"/>
          <p:cNvSpPr/>
          <p:nvPr/>
        </p:nvSpPr>
        <p:spPr>
          <a:xfrm>
            <a:off x="914400" y="2331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e-9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491740"/>
            <a:ext cx="320040" cy="320040"/>
          </a:xfrm>
          <a:prstGeom prst="rect">
            <a:avLst/>
          </a:prstGeom>
        </p:spPr>
      </p:pic>
      <p:sp>
        <p:nvSpPr>
          <p:cNvPr id="7" name="texto-99"/>
          <p:cNvSpPr txBox="1"/>
          <p:nvPr/>
        </p:nvSpPr>
        <p:spPr>
          <a:xfrm>
            <a:off x="1783080" y="2331720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Coluna informativa</a:t>
            </a:r>
            <a:endParaRPr lang="en-US" sz="1800" dirty="0"/>
          </a:p>
        </p:txBody>
      </p:sp>
      <p:sp>
        <p:nvSpPr>
          <p:cNvPr id="8" name="texto-100"/>
          <p:cNvSpPr txBox="1"/>
          <p:nvPr/>
        </p:nvSpPr>
        <p:spPr>
          <a:xfrm>
            <a:off x="914400" y="3154680"/>
            <a:ext cx="46785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Primeiro ponto da lista.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Segundo ponto da lista.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Terceiro ponto da lista.</a:t>
            </a:r>
            <a:endParaRPr lang="en-US" sz="1400" dirty="0"/>
          </a:p>
        </p:txBody>
      </p:sp>
      <p:sp>
        <p:nvSpPr>
          <p:cNvPr id="9" name="card-101"/>
          <p:cNvSpPr/>
          <p:nvPr/>
        </p:nvSpPr>
        <p:spPr>
          <a:xfrm>
            <a:off x="6233008" y="2011680"/>
            <a:ext cx="5410048" cy="402336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/>
        </p:spPr>
      </p:sp>
      <p:sp>
        <p:nvSpPr>
          <p:cNvPr id="10" name="icone-fundo-102"/>
          <p:cNvSpPr/>
          <p:nvPr/>
        </p:nvSpPr>
        <p:spPr>
          <a:xfrm>
            <a:off x="6598768" y="2331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e-1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788" y="2491740"/>
            <a:ext cx="320040" cy="320040"/>
          </a:xfrm>
          <a:prstGeom prst="rect">
            <a:avLst/>
          </a:prstGeom>
        </p:spPr>
      </p:pic>
      <p:sp>
        <p:nvSpPr>
          <p:cNvPr id="12" name="texto-104"/>
          <p:cNvSpPr txBox="1"/>
          <p:nvPr/>
        </p:nvSpPr>
        <p:spPr>
          <a:xfrm>
            <a:off x="7467448" y="2331720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Coluna em destaque</a:t>
            </a:r>
            <a:endParaRPr lang="en-US" sz="1800" dirty="0"/>
          </a:p>
        </p:txBody>
      </p:sp>
      <p:sp>
        <p:nvSpPr>
          <p:cNvPr id="13" name="texto-105"/>
          <p:cNvSpPr txBox="1"/>
          <p:nvPr/>
        </p:nvSpPr>
        <p:spPr>
          <a:xfrm>
            <a:off x="6598768" y="3154680"/>
            <a:ext cx="46785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Primeiro ponto da lista.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Segundo ponto da lista.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106"/>
          <p:cNvSpPr txBox="1"/>
          <p:nvPr/>
        </p:nvSpPr>
        <p:spPr>
          <a:xfrm>
            <a:off x="54864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3"/>
                </a:solidFill>
              </a:rPr>
              <a:t>05 · CONCLUSÃO</a:t>
            </a:r>
            <a:endParaRPr lang="en-US" sz="1400" dirty="0"/>
          </a:p>
        </p:txBody>
      </p:sp>
      <p:sp>
        <p:nvSpPr>
          <p:cNvPr id="3" name="texto-107"/>
          <p:cNvSpPr txBox="1"/>
          <p:nvPr/>
        </p:nvSpPr>
        <p:spPr>
          <a:xfrm>
            <a:off x="548640" y="196596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 frase de conclusão cabe em até quatro linhas e destaca </a:t>
            </a:r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o número que importa</a:t>
            </a:r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.</a:t>
            </a:r>
            <a:endParaRPr lang="en-US" sz="3400" dirty="0"/>
          </a:p>
        </p:txBody>
      </p:sp>
      <p:sp>
        <p:nvSpPr>
          <p:cNvPr id="4" name="texto-108"/>
          <p:cNvSpPr txBox="1"/>
          <p:nvPr/>
        </p:nvSpPr>
        <p:spPr>
          <a:xfrm>
            <a:off x="548640" y="452628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Parágrafo de apoio com a consequência ou o próximo passo.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109"/>
          <p:cNvSpPr txBox="1"/>
          <p:nvPr/>
        </p:nvSpPr>
        <p:spPr>
          <a:xfrm>
            <a:off x="548640" y="26517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Obrigado.</a:t>
            </a:r>
            <a:endParaRPr lang="en-US" sz="6000" dirty="0"/>
          </a:p>
        </p:txBody>
      </p:sp>
      <p:sp>
        <p:nvSpPr>
          <p:cNvPr id="3" name="texto-110"/>
          <p:cNvSpPr txBox="1"/>
          <p:nvPr/>
        </p:nvSpPr>
        <p:spPr>
          <a:xfrm>
            <a:off x="548640" y="3794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Nome da empresa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vo">
  <a:themeElements>
    <a:clrScheme name="Vivo">
      <a:dk1>
        <a:srgbClr val="1A1A1A"/>
      </a:dk1>
      <a:lt1>
        <a:srgbClr val="FFFFFF"/>
      </a:lt1>
      <a:dk2>
        <a:srgbClr val="660099"/>
      </a:dk2>
      <a:lt2>
        <a:srgbClr val="F3ECF8"/>
      </a:lt2>
      <a:accent1>
        <a:srgbClr val="660099"/>
      </a:accent1>
      <a:accent2>
        <a:srgbClr val="8533AD"/>
      </a:accent2>
      <a:accent3>
        <a:srgbClr val="C9A7E0"/>
      </a:accent3>
      <a:accent4>
        <a:srgbClr val="CD1E5A"/>
      </a:accent4>
      <a:accent5>
        <a:srgbClr val="32A04B"/>
      </a:accent5>
      <a:accent6>
        <a:srgbClr val="666666"/>
      </a:accent6>
      <a:hlink>
        <a:srgbClr val="660099"/>
      </a:hlink>
      <a:folHlink>
        <a:srgbClr val="8533AD"/>
      </a:folHlink>
    </a:clrScheme>
    <a:fontScheme name="Viv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apresentação Vivo</dc:title>
  <dc:subject>PptxGenJS Presentation</dc:subject>
  <dc:creator>PptxGenJS</dc:creator>
  <cp:lastModifiedBy>PptxGenJS</cp:lastModifiedBy>
  <cp:revision>1</cp:revision>
  <dcterms:created xsi:type="dcterms:W3CDTF">2026-10-20T20:07:43Z</dcterms:created>
  <dcterms:modified xsi:type="dcterms:W3CDTF">2026-10-20T20:07:43Z</dcterms:modified>
</cp:coreProperties>
</file>